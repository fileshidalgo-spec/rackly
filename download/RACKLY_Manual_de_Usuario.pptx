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182880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rlito"/>
              </a:defRPr>
            </a:pPr>
            <a: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87451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1A1A2E"/>
                </a:solidFill>
                <a:latin typeface="Carlito"/>
              </a:defRPr>
            </a:pPr>
            <a:r>
              <a:t>RACKLY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666666"/>
                </a:solidFill>
                <a:latin typeface="Carlito"/>
              </a:defRPr>
            </a:pPr>
            <a:r>
              <a:t>Sistema de Gestión de Almacenes v2.0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108960"/>
            <a:ext cx="7315200" cy="381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A1A2E"/>
                </a:solidFill>
                <a:latin typeface="Carlito"/>
              </a:defRPr>
            </a:pPr>
            <a:r>
              <a:t>Manual de Usuario: Guía Paso a Paso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666666"/>
                </a:solidFill>
                <a:latin typeface="Carlito"/>
              </a:defRPr>
            </a:pPr>
            <a:r>
              <a:t>Funcionalidades, flujos de trabajo y mejores prácticas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035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300" b="0">
                <a:solidFill>
                  <a:srgbClr val="666666"/>
                </a:solidFill>
                <a:latin typeface="Carlito"/>
              </a:defRPr>
            </a:pPr>
            <a:r>
              <a:t>Autor: Miguel Hidalgo</a:t>
            </a:r>
          </a:p>
          <a:p>
            <a:pPr algn="l">
              <a:lnSpc>
                <a:spcPts val="2080"/>
              </a:lnSpc>
              <a:spcAft>
                <a:spcPts val="400"/>
              </a:spcAft>
              <a:defRPr sz="1300" b="0">
                <a:solidFill>
                  <a:srgbClr val="666666"/>
                </a:solidFill>
                <a:latin typeface="Carlito"/>
              </a:defRPr>
            </a:pPr>
            <a:r>
              <a:t>Aplicación web — Next.js + Supabase</a:t>
            </a:r>
          </a:p>
          <a:p>
            <a:pPr algn="l">
              <a:lnSpc>
                <a:spcPts val="2080"/>
              </a:lnSpc>
              <a:spcAft>
                <a:spcPts val="400"/>
              </a:spcAft>
              <a:defRPr sz="1300" b="0">
                <a:solidFill>
                  <a:srgbClr val="666666"/>
                </a:solidFill>
                <a:latin typeface="Carlito"/>
              </a:defRPr>
            </a:pPr>
            <a:r>
              <a:t>Junio de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A1A2E"/>
                </a:solidFill>
                <a:latin typeface="Carlito"/>
              </a:defRPr>
            </a:pPr>
            <a:r>
              <a:t>Contenido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0972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B82F6"/>
                </a:solidFill>
                <a:latin typeface="Carlito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1A2E"/>
                </a:solidFill>
                <a:latin typeface="Carlito"/>
              </a:defRPr>
            </a:pPr>
            <a:r>
              <a:t>Introducción a RACKLY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17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66666"/>
                </a:solidFill>
                <a:latin typeface="Carlito"/>
              </a:defRPr>
            </a:pPr>
            <a:r>
              <a:t>Visión general y arquitectura del sistema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093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B82F6"/>
                </a:solidFill>
                <a:latin typeface="Carlito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6093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1A2E"/>
                </a:solidFill>
                <a:latin typeface="Carlito"/>
              </a:defRPr>
            </a:pPr>
            <a:r>
              <a:t>Autenticación y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83794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66666"/>
                </a:solidFill>
                <a:latin typeface="Carlito"/>
              </a:defRPr>
            </a:pPr>
            <a:r>
              <a:t>Registro, inicio de sesión y permisos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2996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B82F6"/>
                </a:solidFill>
                <a:latin typeface="Carlito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1A2E"/>
                </a:solidFill>
                <a:latin typeface="Carlito"/>
              </a:defRPr>
            </a:pPr>
            <a:r>
              <a:t>Kardex Racks — Movimientos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2585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66666"/>
                </a:solidFill>
                <a:latin typeface="Carlito"/>
              </a:defRPr>
            </a:pPr>
            <a:r>
              <a:t>Ingreso, salida, devolución e INC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50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B82F6"/>
                </a:solidFill>
                <a:latin typeface="Carlito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450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1A2E"/>
                </a:solidFill>
                <a:latin typeface="Carlito"/>
              </a:defRPr>
            </a:pPr>
            <a:r>
              <a:t>Kardex Racks — Traslado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6791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66666"/>
                </a:solidFill>
                <a:latin typeface="Carlito"/>
              </a:defRPr>
            </a:pPr>
            <a:r>
              <a:t>Transferencia entre ubicaciones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8712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B82F6"/>
                </a:solidFill>
                <a:latin typeface="Carlito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87121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1A2E"/>
                </a:solidFill>
                <a:latin typeface="Carlito"/>
              </a:defRPr>
            </a:pPr>
            <a:r>
              <a:t>Kardex Racks — Catálogo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09981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66666"/>
                </a:solidFill>
                <a:latin typeface="Carlito"/>
              </a:defRPr>
            </a:pPr>
            <a:r>
              <a:t>Gestión del catálogo de productos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291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B82F6"/>
                </a:solidFill>
                <a:latin typeface="Carlito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291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1A2E"/>
                </a:solidFill>
                <a:latin typeface="Carlito"/>
              </a:defRPr>
            </a:pPr>
            <a:r>
              <a:t>Kardex Racks — Stock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5204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66666"/>
                </a:solidFill>
                <a:latin typeface="Carlito"/>
              </a:defRPr>
            </a:pPr>
            <a:r>
              <a:t>Consulta de stock por código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71246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B82F6"/>
                </a:solidFill>
                <a:latin typeface="Carlito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7124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1A2E"/>
                </a:solidFill>
                <a:latin typeface="Carlito"/>
              </a:defRPr>
            </a:pPr>
            <a:r>
              <a:t>Kardex Racks — Ocupación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94106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66666"/>
                </a:solidFill>
                <a:latin typeface="Carlito"/>
              </a:defRPr>
            </a:pPr>
            <a:r>
              <a:t>Mapa visual de posiciones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133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B82F6"/>
                </a:solidFill>
                <a:latin typeface="Carlito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1330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1A2E"/>
                </a:solidFill>
                <a:latin typeface="Carlito"/>
              </a:defRPr>
            </a:pPr>
            <a:r>
              <a:t>Kardex Racks — FEFO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36168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66666"/>
                </a:solidFill>
                <a:latin typeface="Carlito"/>
              </a:defRPr>
            </a:pPr>
            <a:r>
              <a:t>Control de fechas de vencimiento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55371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B82F6"/>
                </a:solidFill>
                <a:latin typeface="Carlito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5537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1A2E"/>
                </a:solidFill>
                <a:latin typeface="Carlito"/>
              </a:defRPr>
            </a:pPr>
            <a:r>
              <a:t>Kardex Racks — Descarga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7823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66666"/>
                </a:solidFill>
                <a:latin typeface="Carlito"/>
              </a:defRPr>
            </a:pPr>
            <a:r>
              <a:t>Exportación a Excel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97433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B82F6"/>
                </a:solidFill>
                <a:latin typeface="Carlito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49743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1A2E"/>
                </a:solidFill>
                <a:latin typeface="Carlito"/>
              </a:defRPr>
            </a:pPr>
            <a:r>
              <a:t>Kardex Racks — Usuarios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20293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66666"/>
                </a:solidFill>
                <a:latin typeface="Carlito"/>
              </a:defRPr>
            </a:pPr>
            <a:r>
              <a:t>Administración de personal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394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B82F6"/>
                </a:solidFill>
                <a:latin typeface="Carlito"/>
              </a:defRPr>
            </a:pPr>
            <a: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1A2E"/>
                </a:solidFill>
                <a:latin typeface="Carlito"/>
              </a:defRPr>
            </a:pPr>
            <a:r>
              <a:t>Kardex Piso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56235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66666"/>
                </a:solidFill>
                <a:latin typeface="Carlito"/>
              </a:defRPr>
            </a:pPr>
            <a:r>
              <a:t>Operaciones en piso de almacén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81558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B82F6"/>
                </a:solidFill>
                <a:latin typeface="Carlito"/>
              </a:defRPr>
            </a:pPr>
            <a: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58155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1A2E"/>
                </a:solidFill>
                <a:latin typeface="Carlito"/>
              </a:defRPr>
            </a:pPr>
            <a:r>
              <a:t>Funciones Transversales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604418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66666"/>
                </a:solidFill>
                <a:latin typeface="Carlito"/>
              </a:defRPr>
            </a:pPr>
            <a:r>
              <a:t>Modo offline, sincronización y tiempo real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623620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B82F6"/>
                </a:solidFill>
                <a:latin typeface="Carlito"/>
              </a:defRPr>
            </a:pPr>
            <a: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6236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1A2E"/>
                </a:solidFill>
                <a:latin typeface="Carlito"/>
              </a:defRPr>
            </a:pPr>
            <a:r>
              <a:t>Referencias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646480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66666"/>
                </a:solidFill>
                <a:latin typeface="Carlito"/>
              </a:defRPr>
            </a:pPr>
            <a:r>
              <a:t>Fuentes en formato APA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 i="0">
                <a:solidFill>
                  <a:srgbClr val="3B82F6"/>
                </a:solidFill>
                <a:latin typeface="Carlito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A1A2E"/>
                </a:solidFill>
                <a:latin typeface="Carlito"/>
              </a:defRPr>
            </a:pPr>
            <a:r>
              <a:t>Introducción a RACKLY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154680"/>
            <a:ext cx="1371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666666"/>
                </a:solidFill>
                <a:latin typeface="Carlito"/>
              </a:defRPr>
            </a:pPr>
            <a:r>
              <a:t>Descripción general, propósito y arquitectura del sistema.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A1A2E"/>
                </a:solidFill>
                <a:latin typeface="Carlito"/>
              </a:defRPr>
            </a:pPr>
            <a:r>
              <a:t>Introducción a RACKLY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333333"/>
                </a:solidFill>
                <a:latin typeface="Carlito"/>
              </a:defRPr>
            </a:pPr>
            <a:r>
              <a:t>RACKLY es un sistema de gestión de almacenes diseñado para controlar de forma precisa los movimientos de insumos, el stock disponible, las fechas de vencimiento y la ocupación física de las posiciones de racks y piso. La aplicación opera en tiempo real con capacidad offline, lo que garantiza continuidad operativa incluso sin conexión a internet.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3474720" cy="16459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54864" cy="1645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1A2E"/>
                </a:solidFill>
                <a:latin typeface="Carlito"/>
              </a:defRPr>
            </a:pPr>
            <a:r>
              <a:t>Gestión de Movimientos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Registro de ingresos, salidas, devoluciones, traslados e insumos no conformes (INC).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468880"/>
            <a:ext cx="3474720" cy="16459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468880"/>
            <a:ext cx="54864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2606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1A2E"/>
                </a:solidFill>
                <a:latin typeface="Carlito"/>
              </a:defRPr>
            </a:pPr>
            <a:r>
              <a:t>Control de 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92608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Cálculo automático del stock por código y ubicación, con integración al sistema Big Magic.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8" y="2468880"/>
            <a:ext cx="3474720" cy="16459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598" y="2468880"/>
            <a:ext cx="54864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8" y="2606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1A2E"/>
                </a:solidFill>
                <a:latin typeface="Carlito"/>
              </a:defRPr>
            </a:pPr>
            <a:r>
              <a:t>FEFO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8" y="292608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Primer vencido, primera salida: control de fechas con indicadores por colores.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389120"/>
            <a:ext cx="3474720" cy="16459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389120"/>
            <a:ext cx="54864" cy="1645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1A2E"/>
                </a:solidFill>
                <a:latin typeface="Carlito"/>
              </a:defRPr>
            </a:pPr>
            <a:r>
              <a:t>Modo Offline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Funcionamiento sin internet con sincronización automática al reconectar.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59" y="4389120"/>
            <a:ext cx="3474720" cy="16459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4389120"/>
            <a:ext cx="54864" cy="1645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39" y="4526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1A2E"/>
                </a:solidFill>
                <a:latin typeface="Carlito"/>
              </a:defRPr>
            </a:pPr>
            <a:r>
              <a:t>Roles y Permisos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39" y="48463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Administración jerárquica de usuarios: operarios, supervisores y administradores.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598" y="4389120"/>
            <a:ext cx="3474720" cy="164592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598" y="4389120"/>
            <a:ext cx="54864" cy="16459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8" y="4526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1A2E"/>
                </a:solidFill>
                <a:latin typeface="Carlito"/>
              </a:defRPr>
            </a:pPr>
            <a:r>
              <a:t>Mapa Visual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8" y="48463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Vista tridimensional de la ocupación del almacén con actualización en tiempo real.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666666"/>
                </a:solidFill>
                <a:latin typeface="Carlito"/>
              </a:defRPr>
            </a:pPr>
            <a:r>
              <a:t>RACKLY v2.0 — Manual de Usuario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66666"/>
                </a:solidFill>
                <a:latin typeface="Carlito"/>
              </a:defRPr>
            </a:pPr>
            <a:r>
              <a:t>3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 i="0">
                <a:solidFill>
                  <a:srgbClr val="14B8A6"/>
                </a:solidFill>
                <a:latin typeface="Carlito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A1A2E"/>
                </a:solidFill>
                <a:latin typeface="Carlito"/>
              </a:defRPr>
            </a:pPr>
            <a:r>
              <a:t>Autenticación y Roles de Usuario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15468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666666"/>
                </a:solidFill>
                <a:latin typeface="Carlito"/>
              </a:defRPr>
            </a:pPr>
            <a:r>
              <a:t>Registro, inicio de sesión, aprobación y jerarquía de permisos.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A1A2E"/>
                </a:solidFill>
                <a:latin typeface="Carlito"/>
              </a:defRPr>
            </a:pPr>
            <a:r>
              <a:t>Flujo de Autenticación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305560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Registro de cuenta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727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El usuario solicita acceso con correo electrónico y contraseña (mínimo 6 caracteres). El sistema confirma automáticamente el correo sin necesidad de verificación manual.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448560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423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Aprobación administrativa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157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Las cuentas nuevas permanecen en estado «pendiente» hasta que un administrador las apruebe desde la pestaña «Usuarios». Sin aprobación, el acceso al sistema queda restringido.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591560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Inicio de sesión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8587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Tras la aprobación, el usuario ingresa con sus credenciales. Si es su primer inicio, puede ser requerido cambiar la contraseña según políticas de seguridad.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734560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709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Asignación de 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0017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El administrador asigna un rol específico que define los permisos del usuario dentro del sistema. Los roles se pueden modificar en cualquier momento.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666666"/>
                </a:solidFill>
                <a:latin typeface="Carlito"/>
              </a:defRPr>
            </a:pPr>
            <a:r>
              <a:t>RACKLY v2.0 — Manual de Usuario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66666"/>
                </a:solidFill>
                <a:latin typeface="Carlito"/>
              </a:defRPr>
            </a:pPr>
            <a:r>
              <a:t>4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A1A2E"/>
                </a:solidFill>
                <a:latin typeface="Carlito"/>
              </a:defRPr>
            </a:pPr>
            <a:r>
              <a:t>Jerarquía de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515600" cy="64008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4864" cy="640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34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1A2E"/>
                </a:solidFill>
                <a:latin typeface="Carlito"/>
              </a:defRPr>
            </a:pPr>
            <a:r>
              <a:t>Administrador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Acceso completo: gestión de usuarios, movimientos, catálogo, configuración y eliminación de registros.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10515600" cy="64008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92024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1A2E"/>
                </a:solidFill>
                <a:latin typeface="Carlito"/>
              </a:defRPr>
            </a:pPr>
            <a:r>
              <a:t>Supervisor de Almacén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402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Aprobación de usuarios, eliminación de movimientos y supervisión operativa.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51760"/>
            <a:ext cx="10515600" cy="64008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65176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697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1A2E"/>
                </a:solidFill>
                <a:latin typeface="Carlito"/>
              </a:defRPr>
            </a:pPr>
            <a:r>
              <a:t>Supervisor de Operaciones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9718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Funciones de supervisión con alcance en operaciones de piso.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383280"/>
            <a:ext cx="10515600" cy="64008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38328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429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1A2E"/>
                </a:solidFill>
                <a:latin typeface="Carlito"/>
              </a:defRPr>
            </a:pPr>
            <a:r>
              <a:t>Coordinador de Operaciones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7033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Coordinación general entre áreas operativas del almacén.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114800"/>
            <a:ext cx="10515600" cy="64008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114800"/>
            <a:ext cx="54864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1A2E"/>
                </a:solidFill>
                <a:latin typeface="Carlito"/>
              </a:defRPr>
            </a:pPr>
            <a:r>
              <a:t>Almacenero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4348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Registro de movimientos y consulta de stock. Sin funciones administrativas.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46320"/>
            <a:ext cx="10515600" cy="64008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846320"/>
            <a:ext cx="54864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892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1A2E"/>
                </a:solidFill>
                <a:latin typeface="Carlito"/>
              </a:defRPr>
            </a:pPr>
            <a:r>
              <a:t>Operario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1663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Registro básico de movimientos e ingreso de datos de manera controlada.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577840"/>
            <a:ext cx="10515600" cy="64008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577840"/>
            <a:ext cx="54864" cy="6400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623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1A2E"/>
                </a:solidFill>
                <a:latin typeface="Carlito"/>
              </a:defRPr>
            </a:pPr>
            <a:r>
              <a:t>Auxiliar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8978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Acceso de solo lectura y funciones limitadas de registro.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666666"/>
                </a:solidFill>
                <a:latin typeface="Carlito"/>
              </a:defRPr>
            </a:pPr>
            <a:r>
              <a:t>RACKLY v2.0 — Manual de Usuario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66666"/>
                </a:solidFill>
                <a:latin typeface="Carlito"/>
              </a:defRPr>
            </a:pPr>
            <a:r>
              <a:t>5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 i="0">
                <a:solidFill>
                  <a:srgbClr val="10B981"/>
                </a:solidFill>
                <a:latin typeface="Carlito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A1A2E"/>
                </a:solidFill>
                <a:latin typeface="Carlito"/>
              </a:defRPr>
            </a:pPr>
            <a:r>
              <a:t>Kardex Racks — Movimientos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154680"/>
            <a:ext cx="1371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666666"/>
                </a:solidFill>
                <a:latin typeface="Carlito"/>
              </a:defRPr>
            </a:pPr>
            <a:r>
              <a:t>Registro de ingresos, salidas, devoluciones e insumos no conformes.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A1A2E"/>
                </a:solidFill>
                <a:latin typeface="Carlito"/>
              </a:defRPr>
            </a:pPr>
            <a:r>
              <a:t>Pestaña Movimientos — Vista General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333333"/>
                </a:solidFill>
                <a:latin typeface="Carlito"/>
              </a:defRPr>
            </a:pPr>
            <a:r>
              <a:t>La pestaña «Movimientos» es el módulo principal para el registro de actividades en el almacén. Dispone de cuatro sub-pestañas especializadas según el tipo de operación. Debajo del formulario se presenta un registro histórico filtrable de todos los movimientos realizados.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5303520" cy="18288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53035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2860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Ingreso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Registra la entrada de mercadería a una posición específica del rack. Requiere ubicación, código de producto, cantidad, fecha de vencimiento y turno.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103120"/>
            <a:ext cx="5303520" cy="18288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103120"/>
            <a:ext cx="530352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0" y="228600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286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Salida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889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Permite dar salida a productos existentes. El sistema busca ubicaciones con stock del código ingresado y permite salida parcial o total, individual o masiva.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06240"/>
            <a:ext cx="5303520" cy="18288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206240"/>
            <a:ext cx="53035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438912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9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Devolución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Registra el retorno de mercadería previamente retirada. Funciona con el mismo formulario que el ingreso, pero genera un tipo de movimiento diferenciado.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206240"/>
            <a:ext cx="5303520" cy="18288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206240"/>
            <a:ext cx="5303520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3680" y="4389120"/>
            <a:ext cx="365760" cy="36576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389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INC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8920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Registra insumos no conformes (defectuosos o fuera de especificación). Incluye un campo adicional para el código INC, que permite identificar y segregar estos materiales.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666666"/>
                </a:solidFill>
                <a:latin typeface="Carlito"/>
              </a:defRPr>
            </a:pPr>
            <a:r>
              <a:t>RACKLY v2.0 — Manual de Usuario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66666"/>
                </a:solidFill>
                <a:latin typeface="Carlito"/>
              </a:defRPr>
            </a:pPr>
            <a:r>
              <a:t>6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A1A2E"/>
                </a:solidFill>
                <a:latin typeface="Carlito"/>
              </a:defRPr>
            </a:pPr>
            <a:r>
              <a:t>Paso a Paso: Registro de Ingreso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21412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Seleccionar ubicación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48132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Elija el bloque, torre, piso y posición donde se almacenará el producto. Los campos se habilitan en cascada según la selección anterior.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6568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240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Buscar producto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53288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Utilice el buscador del catálogo para encontrar el código del producto. Al seleccionarlo, se autocompletan la descripción y la unidad de medida.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31724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Ingresar cantidad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58444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Escriba la cantidad a ingresar (valor numérico mayor a cero). Puede especificar la fecha de vencimiento o marcar la casilla «sin vencimiento».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36880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343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Proveedor (si aplica)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63600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Para ciertos productos (películas y empaques), el sistema solicita seleccionar un proveedor de la lista disponible.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42036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394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Confirmar registro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6875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Si la posición ya contiene stock de otro producto, el sistema muestra una alerta con opción de dar salida al producto existente o confirmar el ingreso.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666666"/>
                </a:solidFill>
                <a:latin typeface="Carlito"/>
              </a:defRPr>
            </a:pPr>
            <a:r>
              <a:t>RACKLY v2.0 — Manual de Usuario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66666"/>
                </a:solidFill>
                <a:latin typeface="Carlito"/>
              </a:defRPr>
            </a:pPr>
            <a:r>
              <a:t>7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A1A2E"/>
                </a:solidFill>
                <a:latin typeface="Carlito"/>
              </a:defRPr>
            </a:pPr>
            <a:r>
              <a:t>Paso a Paso: Registro de Salida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214120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Buscar código de producto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48132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Ingrese el código del producto que desea retirar. El sistema muestra automáticamente todas las ubicaciones donde existe stock de dicho artículo.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65680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240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Seleccionar ubicaciones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53288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Se presenta una lista con las ubicaciones disponibles, ordenadas por FEFO (primer vencido, primera salida). Puede seleccionar una o varias ubicaciones.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317240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Definir cantidad a retirar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58444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Para cada ubicación, especifique la cantidad a retirar. Puede usar los botones «Parcial» o «Todo» para facilitar la operación.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368800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343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Salida masiva (opcional)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63600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Active la selección múltiple con el botón «Seleccionar todas» para procesar la salida en varias ubicaciones de forma simultánea.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420360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394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Confirmar operación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6875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Revise el resumen de cantidades y confirme. El sistema valida que exista stock suficiente antes de ejecutar la operación.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666666"/>
                </a:solidFill>
                <a:latin typeface="Carlito"/>
              </a:defRPr>
            </a:pPr>
            <a:r>
              <a:t>RACKLY v2.0 — Manual de Usuario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66666"/>
                </a:solidFill>
                <a:latin typeface="Carlito"/>
              </a:defRPr>
            </a:pPr>
            <a:r>
              <a:t>8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A1A2E"/>
                </a:solidFill>
                <a:latin typeface="Carlito"/>
              </a:defRPr>
            </a:pPr>
            <a:r>
              <a:t>Ingreso de Insumo No Conforme (INC)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333333"/>
                </a:solidFill>
                <a:latin typeface="Carlito"/>
              </a:defRPr>
            </a:pPr>
            <a:r>
              <a:t>Los insumos no conformes (INC) son aquellos materiales que no cumplen con las especificaciones de calidad establecidas. RACKLY permite registrarlos desde dos puntos de entrada: la pestaña «Movimientos» (sub-pestaña INC) y la pestaña «Ocupación» (botón INC en cada posición). Ambos métodos almacenan el registro con el campo «codigo_inc» para segregarlo del stock regular.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128520"/>
            <a:ext cx="411480" cy="4114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Seleccionar ubicación de destino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39572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Determine la posición del rack donde se almacenará el INC. Es recomendable ubicar los materiales no conformes en áreas segregadas.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42920"/>
            <a:ext cx="411480" cy="4114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Buscar producto en el catálogo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31012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Ingrese el código del producto. Se autocompletan la descripción y la unidad de medida del catálogo maestro.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57320"/>
            <a:ext cx="411480" cy="4114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Especificar código INC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2452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Ingrese el identificador único del INC (por ejemplo: INC026-120). Este campo es obligatorio y permite rastrear el material defectuoso.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871720"/>
            <a:ext cx="411480" cy="4114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46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Ingresar cantidad y vencimiento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3892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Indique la cantidad del insumo no conforme y, si aplica, su fecha de vencimiento. Estos datos quedan registrados en el movimiento.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786120"/>
            <a:ext cx="411480" cy="4114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760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Confirmar registro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605332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Al presionar «Registrar INC», el sistema guarda el movimiento con tipo «ingreso» y el código INC asociado. El material queda visible con un indicador rojo.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666666"/>
                </a:solidFill>
                <a:latin typeface="Carlito"/>
              </a:defRPr>
            </a:pPr>
            <a:r>
              <a:t>RACKLY v2.0 — Manual de Usuario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66666"/>
                </a:solidFill>
                <a:latin typeface="Carlito"/>
              </a:defRPr>
            </a:pPr>
            <a:r>
              <a:t>9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 i="0">
                <a:solidFill>
                  <a:srgbClr val="8B5CF6"/>
                </a:solidFill>
                <a:latin typeface="Carlito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A1A2E"/>
                </a:solidFill>
                <a:latin typeface="Carlito"/>
              </a:defRPr>
            </a:pPr>
            <a:r>
              <a:t>Kardex Racks — Traslado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154680"/>
            <a:ext cx="13716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666666"/>
                </a:solidFill>
                <a:latin typeface="Carlito"/>
              </a:defRPr>
            </a:pPr>
            <a:r>
              <a:t>Transferencia de stock entre ubicaciones del almacén.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A1A2E"/>
                </a:solidFill>
                <a:latin typeface="Carlito"/>
              </a:defRPr>
            </a:pPr>
            <a:r>
              <a:t>Paso a Paso: Traslado de Stock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333333"/>
                </a:solidFill>
                <a:latin typeface="Carlito"/>
              </a:defRPr>
            </a:pPr>
            <a:r>
              <a:t>El módulo de traslado permite mover productos de una ubicación a otra dentro del almacén. El sistema genera automáticamente una salida en el origen y un ingreso en el destino, manteniendo la trazabilidad completa de la operación.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85420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Buscar código de producto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12140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Ingrese el código del artículo que desea trasladar. El sistema mostrará las ubicaciones con stock disponible.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81432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88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Seleccionar ubicación de origen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08152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Elija la posición exacta de donde se retirará el producto (bloque, torre, piso y posición).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77444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749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Definir ubicación de destino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04164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Seleccione la nueva posición donde se almacenará el producto trasladado.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73456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709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Especificar cantidad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0017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Indique la cantidad de unidades a trasladar. El sistema verificará que exista stock suficiente en el origen.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69468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669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Confirmar traslado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96188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El sistema ejecuta la operación y registra el movimiento en el historial. El stock se actualiza en ambas ubicaciones.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666666"/>
                </a:solidFill>
                <a:latin typeface="Carlito"/>
              </a:defRPr>
            </a:pPr>
            <a:r>
              <a:t>RACKLY v2.0 — Manual de Usuario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66666"/>
                </a:solidFill>
                <a:latin typeface="Carlito"/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 i="0">
                <a:solidFill>
                  <a:srgbClr val="3B82F6"/>
                </a:solidFill>
                <a:latin typeface="Carlito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A1A2E"/>
                </a:solidFill>
                <a:latin typeface="Carlito"/>
              </a:defRPr>
            </a:pPr>
            <a:r>
              <a:t>Kardex Racks — Catálogo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154680"/>
            <a:ext cx="1371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666666"/>
                </a:solidFill>
                <a:latin typeface="Carlito"/>
              </a:defRPr>
            </a:pPr>
            <a:r>
              <a:t>Gestión del catálogo maestro de productos.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A1A2E"/>
                </a:solidFill>
                <a:latin typeface="Carlito"/>
              </a:defRPr>
            </a:pPr>
            <a:r>
              <a:t>Gestión del Catálogo de Productos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333333"/>
                </a:solidFill>
                <a:latin typeface="Carlito"/>
              </a:defRPr>
            </a:pPr>
            <a:r>
              <a:t>El catálogo es el repositorio maestro de todos los códigos de productos del almacén. Almacena el código, la descripción y la unidad de medida de cada artículo. Este catálogo se utiliza para autocompletar formularios en toda la aplicación.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370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Importar desde Excel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30428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Cargue un archivo .xlsx con los datos de los productos. El sistema lee las columnas de código, descripción y unidad, y las agrega al catálogo.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8864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Agregar producto 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35584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Ingrese directamente el código, la descripción y la unidad de medida para crear un nuevo registro en el catálogo.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14020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Búsqueda y filtro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40740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Utilice la barra de búsqueda para localizar productos existentes por código o por descripción.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19176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166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Eliminación (solo admin)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4589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Los administradores pueden eliminar registros del catálogo. Esta acción no afecta los movimientos ya registrados.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666666"/>
                </a:solidFill>
                <a:latin typeface="Carlito"/>
              </a:defRPr>
            </a:pPr>
            <a:r>
              <a:t>RACKLY v2.0 — Manual de Usuario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66666"/>
                </a:solidFill>
                <a:latin typeface="Carlito"/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 i="0">
                <a:solidFill>
                  <a:srgbClr val="10B981"/>
                </a:solidFill>
                <a:latin typeface="Carlito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A1A2E"/>
                </a:solidFill>
                <a:latin typeface="Carlito"/>
              </a:defRPr>
            </a:pPr>
            <a:r>
              <a:t>Kardex Racks — Stock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154680"/>
            <a:ext cx="1371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666666"/>
                </a:solidFill>
                <a:latin typeface="Carlito"/>
              </a:defRPr>
            </a:pPr>
            <a:r>
              <a:t>Consulta de stock por código de producto con filtros avanzados.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A1A2E"/>
                </a:solidFill>
                <a:latin typeface="Carlito"/>
              </a:defRPr>
            </a:pPr>
            <a:r>
              <a:t>Consulta de Stock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21412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Buscar código de producto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48132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Ingrese el código del artículo para consultar su stock actual. El sistema calcula la diferencia entre ingresos y salidas por ubicación.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40284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Verificar datos del catálogo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7004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Se muestran los datos del producto: descripción, unidad de medida y stock registrado en el sistema externo Big Magic.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59156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Revisar stock por ubicación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8587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El sistema presenta una tabla con el desglose de stock por bloque, torre, piso y posición. Se incluye la fecha de vencimiento y el proveedor.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78028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Filtrar por tipo de stock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04748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Utilice los botones de filtro: «Todos» (muestra todo), «Disponibles» (solo stock normal) y «Solo INC» (exclusivamente insumos no conformes).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666666"/>
                </a:solidFill>
                <a:latin typeface="Carlito"/>
              </a:defRPr>
            </a:pPr>
            <a:r>
              <a:t>RACKLY v2.0 — Manual de Usuario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66666"/>
                </a:solidFill>
                <a:latin typeface="Carlito"/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 i="0">
                <a:solidFill>
                  <a:srgbClr val="3B82F6"/>
                </a:solidFill>
                <a:latin typeface="Carlito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A1A2E"/>
                </a:solidFill>
                <a:latin typeface="Carlito"/>
              </a:defRPr>
            </a:pPr>
            <a:r>
              <a:t>Kardex Racks — Ocupación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154680"/>
            <a:ext cx="1371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666666"/>
                </a:solidFill>
                <a:latin typeface="Carlito"/>
              </a:defRPr>
            </a:pPr>
            <a:r>
              <a:t>Mapa visual tridimensional de la ocupación del almacén.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A1A2E"/>
                </a:solidFill>
                <a:latin typeface="Carlito"/>
              </a:defRPr>
            </a:pPr>
            <a:r>
              <a:t>Mapa Visual de Ocupación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333333"/>
                </a:solidFill>
                <a:latin typeface="Carlito"/>
              </a:defRPr>
            </a:pPr>
            <a:r>
              <a:t>La pestaña «Ocupación» muestra una cuadrícula visual de las posiciones del almacén, organizada por bloques, torres, pisos y posiciones. Cada celda tiene un código de color que indica su estado de ocupación, lo que permite identificar de forma inmediata las áreas disponibles y las ocupadas.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457200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1A2E"/>
                </a:solidFill>
                <a:latin typeface="Carlito"/>
              </a:defRPr>
            </a:pPr>
            <a:r>
              <a:t>Verde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Posición vacía, disponible para nuevos ingresos.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45720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560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1A2E"/>
                </a:solidFill>
                <a:latin typeface="Carlito"/>
              </a:defRPr>
            </a:pPr>
            <a:r>
              <a:t>Azul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60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Posición ocupada por un solo producto.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4572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1A2E"/>
                </a:solidFill>
                <a:latin typeface="Carlito"/>
              </a:defRPr>
            </a:pPr>
            <a:r>
              <a:t>Naranja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017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Posición ocupada por múltiples productos.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474720"/>
            <a:ext cx="457200" cy="3200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1A2E"/>
                </a:solidFill>
                <a:latin typeface="Carlito"/>
              </a:defRPr>
            </a:pPr>
            <a:r>
              <a:t>Rosa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4747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Posición que contiene insumos no conformes (INC).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06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333333"/>
                </a:solidFill>
                <a:latin typeface="Carlito"/>
              </a:defRPr>
            </a:pPr>
            <a:r>
              <a:t>Al hacer clic en una posición ocupada, se despliega un panel lateral con el detalle del stock: código de producto, descripción, cantidad, fecha de vencimiento y proveedor. Desde ahí se pueden ejecutar acciones de ingreso, salida, devolución, traslado o registro de INC directamente.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666666"/>
                </a:solidFill>
                <a:latin typeface="Carlito"/>
              </a:defRPr>
            </a:pPr>
            <a:r>
              <a:t>RACKLY v2.0 — Manual de Usuario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66666"/>
                </a:solidFill>
                <a:latin typeface="Carlito"/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 i="0">
                <a:solidFill>
                  <a:srgbClr val="F59E0B"/>
                </a:solidFill>
                <a:latin typeface="Carlito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A1A2E"/>
                </a:solidFill>
                <a:latin typeface="Carlito"/>
              </a:defRPr>
            </a:pPr>
            <a:r>
              <a:t>Kardex Racks — FEFO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154680"/>
            <a:ext cx="1371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666666"/>
                </a:solidFill>
                <a:latin typeface="Carlito"/>
              </a:defRPr>
            </a:pPr>
            <a:r>
              <a:t>Control de fechas de vencimiento: primer vencido, primera salida.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A1A2E"/>
                </a:solidFill>
                <a:latin typeface="Carlito"/>
              </a:defRPr>
            </a:pPr>
            <a:r>
              <a:t>Sistema FEFO (First Expired, First Out)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333333"/>
                </a:solidFill>
                <a:latin typeface="Carlito"/>
              </a:defRPr>
            </a:pPr>
            <a:r>
              <a:t>El módulo FEFO implementa la metodología «primer vencido, primera salida», esencial para la gestión de productos perecederos. El sistema clasifica automáticamente los productos según su fecha de vencimiento y los presenta con un código de color intuitivo.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4864" cy="594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515600" cy="59436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1A2E"/>
                </a:solidFill>
                <a:latin typeface="Carlito"/>
              </a:defRPr>
            </a:pPr>
            <a:r>
              <a:t>Verde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134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Más de 60 días para vencer. Producto en óptimas condiciones.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22C55E"/>
                </a:solidFill>
                <a:latin typeface="Carlito"/>
              </a:defRPr>
            </a:pPr>
            <a:r>
              <a:t>&gt; 60 días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724912"/>
            <a:ext cx="54864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724912"/>
            <a:ext cx="10515600" cy="59436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7706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1A2E"/>
                </a:solidFill>
                <a:latin typeface="Carlito"/>
              </a:defRPr>
            </a:pPr>
            <a:r>
              <a:t>Azul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2666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Entre 30 y 60 días para vencer. Estado de alerta temprana.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8620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3B82F6"/>
                </a:solidFill>
                <a:latin typeface="Carlito"/>
              </a:defRPr>
            </a:pPr>
            <a:r>
              <a:t>30-60 días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438144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438144"/>
            <a:ext cx="10515600" cy="59436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48386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1A2E"/>
                </a:solidFill>
                <a:latin typeface="Carlito"/>
              </a:defRPr>
            </a:pPr>
            <a:r>
              <a:t>Naranja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3989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Entre 15 y 30 días para vencer. Se requiere atención prioritaria.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5753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59E0B"/>
                </a:solidFill>
                <a:latin typeface="Carlito"/>
              </a:defRPr>
            </a:pPr>
            <a:r>
              <a:t>15-30 días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151376"/>
            <a:ext cx="54864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151376"/>
            <a:ext cx="10515600" cy="59436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1970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1A2E"/>
                </a:solidFill>
                <a:latin typeface="Carlito"/>
              </a:defRPr>
            </a:pPr>
            <a:r>
              <a:t>Rojo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4531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Vencido o con menos de 15 días. Producto requiere acción inmediata.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288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EF4444"/>
                </a:solidFill>
                <a:latin typeface="Carlito"/>
              </a:defRPr>
            </a:pPr>
            <a:r>
              <a:t>&lt; 15 días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13892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666666"/>
                </a:solidFill>
                <a:latin typeface="Carlito"/>
              </a:defRPr>
            </a:pPr>
            <a:r>
              <a:t>Nota: Los insumos no conformes (INC) quedan excluidos del cálculo FEFO, ya que se gestionan de manera independiente según los protocolos de calidad establecidos por la organización.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666666"/>
                </a:solidFill>
                <a:latin typeface="Carlito"/>
              </a:defRPr>
            </a:pPr>
            <a:r>
              <a:t>RACKLY v2.0 — Manual de Usuario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66666"/>
                </a:solidFill>
                <a:latin typeface="Carlito"/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 i="0">
                <a:solidFill>
                  <a:srgbClr val="1E40AF"/>
                </a:solidFill>
                <a:latin typeface="Carlito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A1A2E"/>
                </a:solidFill>
                <a:latin typeface="Carlito"/>
              </a:defRPr>
            </a:pPr>
            <a:r>
              <a:t>Kardex Racks — Descarga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154680"/>
            <a:ext cx="1371600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666666"/>
                </a:solidFill>
                <a:latin typeface="Carlito"/>
              </a:defRPr>
            </a:pPr>
            <a:r>
              <a:t>Exportación de datos a formato Excel (.xlsx).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A1A2E"/>
                </a:solidFill>
                <a:latin typeface="Carlito"/>
              </a:defRPr>
            </a:pPr>
            <a:r>
              <a:t>Exportación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333333"/>
                </a:solidFill>
                <a:latin typeface="Carlito"/>
              </a:defRPr>
            </a:pPr>
            <a:r>
              <a:t>La pestaña «Descarga» permite exportar los datos del sistema a archivos Excel para su análisis fuera de la plataforma. Se ofrecen dos tipos de exportación que se ajustan a diferentes necesidades operativas y administrativas.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10515600" cy="173736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54864" cy="1737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246888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rlito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23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A1A2E"/>
                </a:solidFill>
                <a:latin typeface="Carlito"/>
              </a:defRPr>
            </a:pPr>
            <a:r>
              <a:t>Movimientos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Genera un archivo Excel con el registro completo de movimientos: tipo, fecha, usuario, código, descripción, cantidad, ubicación, turno, proveedor y, si aplica, el código INC. Ideal para auditorías y reportes operativos.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06240"/>
            <a:ext cx="10515600" cy="173736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54864" cy="1737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44805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rlito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434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A1A2E"/>
                </a:solidFill>
                <a:latin typeface="Carlito"/>
              </a:defRPr>
            </a:pPr>
            <a:r>
              <a:t>Stock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2920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Genera un archivo Excel con el estado actual del stock: código de producto, descripción, unidad de medida, cantidad total y desglose por ubicación. Incluye el stock registrado en el sistema externo Big Magic para comparación.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666666"/>
                </a:solidFill>
                <a:latin typeface="Carlito"/>
              </a:defRPr>
            </a:pPr>
            <a:r>
              <a:t>RACKLY v2.0 — Manual de Usuario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66666"/>
                </a:solidFill>
                <a:latin typeface="Carlito"/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 i="0">
                <a:solidFill>
                  <a:srgbClr val="14B8A6"/>
                </a:solidFill>
                <a:latin typeface="Carlito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A1A2E"/>
                </a:solidFill>
                <a:latin typeface="Carlito"/>
              </a:defRPr>
            </a:pPr>
            <a:r>
              <a:t>Kardex Racks — Usuarios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15468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666666"/>
                </a:solidFill>
                <a:latin typeface="Carlito"/>
              </a:defRPr>
            </a:pPr>
            <a:r>
              <a:t>Administración de cuentas, roles y permisos del personal.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A1A2E"/>
                </a:solidFill>
                <a:latin typeface="Carlito"/>
              </a:defRPr>
            </a:pPr>
            <a:r>
              <a:t>Administración de Usuarios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333333"/>
                </a:solidFill>
                <a:latin typeface="Carlito"/>
              </a:defRPr>
            </a:pPr>
            <a:r>
              <a:t>La pestaña «Usuarios» está disponible exclusivamente para administradores y supervisores. Permite gestionar el acceso del personal al sistema, asignar roles y mantener el control de quiénes tienen autorización para operar.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37080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Ver solicitudes pendientes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30428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Al iniciar, se muestran las cuentas nuevas que aún no han sido aprobadas. Cada solicitud incluye el nombre y correo del solicitante.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88640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Aprobar o denegar acceso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35584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Revise los datos del solicitante y apruebe o deniegue su acceso al sistema. Las cuentas denegadas no pueden iniciar sesión.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140200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Asignar 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40740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Para cada usuario aprobado, seleccione el rol apropiado de la lista jerárquica disponible. El rol define las funciones que el usuario puede realizar.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191760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rlito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166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Eliminar usuario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4589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En caso necesario, el administrador puede eliminar cuentas del sistema. Esta acción elimina el perfil pero conserva el historial de movimientos registrados.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666666"/>
                </a:solidFill>
                <a:latin typeface="Carlito"/>
              </a:defRPr>
            </a:pPr>
            <a:r>
              <a:t>RACKLY v2.0 — Manual de Usuario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66666"/>
                </a:solidFill>
                <a:latin typeface="Carlito"/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 i="0">
                <a:solidFill>
                  <a:srgbClr val="6D28D9"/>
                </a:solidFill>
                <a:latin typeface="Carlito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A1A2E"/>
                </a:solidFill>
                <a:latin typeface="Carlito"/>
              </a:defRPr>
            </a:pPr>
            <a:r>
              <a:t>Kardex Piso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154680"/>
            <a:ext cx="1371600" cy="381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666666"/>
                </a:solidFill>
                <a:latin typeface="Carlito"/>
              </a:defRPr>
            </a:pPr>
            <a:r>
              <a:t>Operaciones de almacén en el área de piso.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A1A2E"/>
                </a:solidFill>
                <a:latin typeface="Carlito"/>
              </a:defRPr>
            </a:pPr>
            <a:r>
              <a:t>Módulo de Piso de Almacén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381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333333"/>
                </a:solidFill>
                <a:latin typeface="Carlito"/>
              </a:defRPr>
            </a:pPr>
            <a:r>
              <a:t>El módulo «Kardex Piso» gestiona las operaciones en el área de piso del almacén, donde se manejan los sectores de almacenamiento a nivel del suelo. Funciona de manera independiente al Kardex de Racks y cuenta con su propio conjunto de funcionalidades.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303520" cy="173736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303520" cy="457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Movimientos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Historial completo de movimientos realizados en piso. Incluye badges visuales para identificar los insumos no conformes (INC) registrados.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5303520" cy="173736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53035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Sectores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Vista de los sectores del almacén en piso. Permite realizar ingresos, salidas y registros de INC directamente desde cada sector. Cada sector muestra su stock actual.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023360"/>
            <a:ext cx="5303520" cy="173736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023360"/>
            <a:ext cx="530352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Stock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Consulta de stock del área de piso por código de producto. Integra información del sistema Big Magic y presenta los datos con control FEFO.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023360"/>
            <a:ext cx="5303520" cy="173736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4023360"/>
            <a:ext cx="5303520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206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1A2E"/>
                </a:solidFill>
                <a:latin typeface="Carlito"/>
              </a:defRPr>
            </a:pPr>
            <a:r>
              <a:t>Configuración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57200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Panel administrativo para definir la estructura de sectores y almacenes del área de piso. Solo accesible para personal autorizado.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666666"/>
                </a:solidFill>
                <a:latin typeface="Carlito"/>
              </a:defRPr>
            </a:pPr>
            <a:r>
              <a:t>RACKLY v2.0 — Manual de Usuario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66666"/>
                </a:solidFill>
                <a:latin typeface="Carlito"/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 i="0">
                <a:solidFill>
                  <a:srgbClr val="666666"/>
                </a:solidFill>
                <a:latin typeface="Carlito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A1A2E"/>
                </a:solidFill>
                <a:latin typeface="Carlito"/>
              </a:defRPr>
            </a:pPr>
            <a:r>
              <a:t>Funciones Transversales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154680"/>
            <a:ext cx="1371600" cy="38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666666"/>
                </a:solidFill>
                <a:latin typeface="Carlito"/>
              </a:defRPr>
            </a:pPr>
            <a:r>
              <a:t>Modo offline, sincronización automática y actualización en tiempo real.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A1A2E"/>
                </a:solidFill>
                <a:latin typeface="Carlito"/>
              </a:defRPr>
            </a:pPr>
            <a:r>
              <a:t>Funciones del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38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515600" cy="1143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4864" cy="1143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6187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1A2E"/>
                </a:solidFill>
                <a:latin typeface="Carlito"/>
              </a:defRPr>
            </a:pPr>
            <a:r>
              <a:t>Modo Offline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72768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Cuando la conexión a internet se pierde, la aplicación continúa funcionando con normalidad. Los movimientos se almacenan localmente en el navegador (IndexedDB) y se sincronizan automáticamente al recuperar la conexión. Se genera un identificador único (UUID) para garantizar la idempotencia: si un movimiento se envía dos veces, el sistema lo detecta y evita duplicados.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10515600" cy="1143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54864" cy="1143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4203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1A2E"/>
                </a:solidFill>
                <a:latin typeface="Carlito"/>
              </a:defRPr>
            </a:pPr>
            <a:r>
              <a:t>Sincronización Automática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52928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El motor de sincronización verifica la conectividad con el servidor cada 30 segundos mediante un ping a la API de Supabase. Al detectar conexión, procesa la cola de movimientos pendientes, envía cada uno al servidor y actualiza el caché local con los datos más recientes.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49040"/>
            <a:ext cx="10515600" cy="1143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49040"/>
            <a:ext cx="54864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82219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1A2E"/>
                </a:solidFill>
                <a:latin typeface="Carlito"/>
              </a:defRPr>
            </a:pPr>
            <a:r>
              <a:t>Actualización en Tiempo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133088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Los cambios realizados por otros usuarios se reflejan de forma instantánea gracias a los canales WebSocket de Supabase Realtime. Si el WebSocket no está disponible, el sistema utiliza un mecanismo de consulta periódica (polling) cada 8 segundos como respaldo.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029200"/>
            <a:ext cx="10515600" cy="11430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029200"/>
            <a:ext cx="54864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102352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1A2E"/>
                </a:solidFill>
                <a:latin typeface="Carlito"/>
              </a:defRPr>
            </a:pPr>
            <a:r>
              <a:t>Indicador de Conexión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413248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66666"/>
                </a:solidFill>
                <a:latin typeface="Carlito"/>
              </a:defRPr>
            </a:pPr>
            <a:r>
              <a:t>La barra superior de la aplicación muestra un indicador visual del estado de conexión: verde (en línea), amarillo (sincronizando) o rojo (sin conexión). También muestra el conteo de movimientos pendientes por sincronizar.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666666"/>
                </a:solidFill>
                <a:latin typeface="Carlito"/>
              </a:defRPr>
            </a:pPr>
            <a:r>
              <a:t>RACKLY v2.0 — Manual de Usuario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66666"/>
                </a:solidFill>
                <a:latin typeface="Carlito"/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A1A2E"/>
                </a:solidFill>
                <a:latin typeface="Carlito"/>
              </a:defRPr>
            </a:pPr>
            <a:r>
              <a:t>Referencias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38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>
                <a:solidFill>
                  <a:srgbClr val="333333"/>
                </a:solidFill>
                <a:latin typeface="Carlito"/>
              </a:defRPr>
            </a:pPr>
            <a:r>
              <a:t>Hidalgo, M. (2026). RACKLY: Sistema de gestión de almacenes (Versión 2.0) [Software informático]. https://rackly.pages.dev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>
                <a:solidFill>
                  <a:srgbClr val="333333"/>
                </a:solidFill>
                <a:latin typeface="Carlito"/>
              </a:defRPr>
            </a:pPr>
            <a:r>
              <a:t>Real Academia Española. (2024). Diccionario de la lengua española (24.б╙ ed.). https://dle.rae.es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0545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>
                <a:solidFill>
                  <a:srgbClr val="333333"/>
                </a:solidFill>
                <a:latin typeface="Carlito"/>
              </a:defRPr>
            </a:pPr>
            <a:r>
              <a:t>American Psychological Association. (2020). Publication manual of the American Psychological Association (7.б╙ ed.). https://doi.org/10.1037/0000165-000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63824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>
                <a:solidFill>
                  <a:srgbClr val="333333"/>
                </a:solidFill>
                <a:latin typeface="Carlito"/>
              </a:defRPr>
            </a:pPr>
            <a:r>
              <a:t>Supabase. (2026). Supabase: The open source Firebase alternative. https://supabase.com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221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>
                <a:solidFill>
                  <a:srgbClr val="333333"/>
                </a:solidFill>
                <a:latin typeface="Carlito"/>
              </a:defRPr>
            </a:pPr>
            <a:r>
              <a:t>Vercel. (2026). Next.js: The React framework for the web. https://nextjs.org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>
                <a:solidFill>
                  <a:srgbClr val="333333"/>
                </a:solidFill>
                <a:latin typeface="Carlito"/>
              </a:defRPr>
            </a:pPr>
            <a:r>
              <a:t>Monge, F. y Arranz, P. (2023). Gestión de almacenes: Manual práctico de logística industrial. Ediciones Paraninfo.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389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>
                <a:solidFill>
                  <a:srgbClr val="333333"/>
                </a:solidFill>
                <a:latin typeface="Carlito"/>
              </a:defRPr>
            </a:pPr>
            <a:r>
              <a:t>Real Academia Española y Asociación de Academias de la Lengua Española. (2010). Ortografía de la lengua española. Espasa.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666666"/>
                </a:solidFill>
                <a:latin typeface="Carlito"/>
              </a:defRPr>
            </a:pPr>
            <a:r>
              <a:t>RACKLY v2.0 — Manual de Usuario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628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66666"/>
                </a:solidFill>
                <a:latin typeface="Carlito"/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94960" y="1645920"/>
            <a:ext cx="1371600" cy="1371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FFFFF"/>
                </a:solidFill>
                <a:latin typeface="Carlito"/>
              </a:defRPr>
            </a:pPr>
            <a:r>
              <a:t>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1A1A2E"/>
                </a:solidFill>
                <a:latin typeface="Carlito"/>
              </a:defRPr>
            </a:pPr>
            <a:r>
              <a:t>RACKLY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666666"/>
                </a:solidFill>
                <a:latin typeface="Carlito"/>
              </a:defRPr>
            </a:pPr>
            <a:r>
              <a:t>Sistema de Gestión de Almacenes v2.0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4389120"/>
            <a:ext cx="2103120" cy="381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7548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1">
                <a:solidFill>
                  <a:srgbClr val="666666"/>
                </a:solidFill>
                <a:latin typeface="Carlito"/>
              </a:defRPr>
            </a:pPr>
            <a:r>
              <a:t>Manual de Usuario — Junio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2120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66666"/>
                </a:solidFill>
                <a:latin typeface="Carlito"/>
              </a:defRPr>
            </a:pPr>
            <a:r>
              <a:t>Desarrollado por Miguel Hidalgo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